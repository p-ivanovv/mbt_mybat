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Roboto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Share Tech Mono"/>
      <p:regular r:id="rId23"/>
    </p:embeddedFont>
    <p:embeddedFont>
      <p:font typeface="PT Mono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7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9.xml"/><Relationship Id="rId24" Type="http://schemas.openxmlformats.org/officeDocument/2006/relationships/font" Target="fonts/PTMono-regular.fntdata"/><Relationship Id="rId12" Type="http://schemas.openxmlformats.org/officeDocument/2006/relationships/slide" Target="slides/slide8.xml"/><Relationship Id="rId23" Type="http://schemas.openxmlformats.org/officeDocument/2006/relationships/font" Target="fonts/ShareTechMon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" Target="slides/slide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2.xml"/><Relationship Id="rId18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2f3a95ecd_0_1:notes"/>
          <p:cNvSpPr/>
          <p:nvPr>
            <p:ph idx="2" type="sldImg"/>
          </p:nvPr>
        </p:nvSpPr>
        <p:spPr>
          <a:xfrm>
            <a:off x="0" y="0"/>
            <a:ext cx="3999900" cy="3999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g3d2f3a95ecd_0_1:notes"/>
          <p:cNvSpPr txBox="1"/>
          <p:nvPr>
            <p:ph idx="1" type="body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g3d2f3a95ecd_0_1:notes"/>
          <p:cNvSpPr txBox="1"/>
          <p:nvPr>
            <p:ph idx="12" type="sldNum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2f3a95ecd_0_15:notes"/>
          <p:cNvSpPr/>
          <p:nvPr>
            <p:ph idx="2" type="sldImg"/>
          </p:nvPr>
        </p:nvSpPr>
        <p:spPr>
          <a:xfrm>
            <a:off x="0" y="0"/>
            <a:ext cx="3999900" cy="3999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g3d2f3a95ecd_0_15:notes"/>
          <p:cNvSpPr txBox="1"/>
          <p:nvPr>
            <p:ph idx="1" type="body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d2f3a95ecd_0_15:notes"/>
          <p:cNvSpPr txBox="1"/>
          <p:nvPr>
            <p:ph idx="12" type="sldNum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2f3a95ecd_0_71:notes"/>
          <p:cNvSpPr/>
          <p:nvPr>
            <p:ph idx="2" type="sldImg"/>
          </p:nvPr>
        </p:nvSpPr>
        <p:spPr>
          <a:xfrm>
            <a:off x="0" y="0"/>
            <a:ext cx="3999900" cy="3999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g3d2f3a95ecd_0_71:notes"/>
          <p:cNvSpPr txBox="1"/>
          <p:nvPr>
            <p:ph idx="1" type="body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d2f3a95ecd_0_71:notes"/>
          <p:cNvSpPr txBox="1"/>
          <p:nvPr>
            <p:ph idx="12" type="sldNum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2f3a95ecd_0_101:notes"/>
          <p:cNvSpPr/>
          <p:nvPr>
            <p:ph idx="2" type="sldImg"/>
          </p:nvPr>
        </p:nvSpPr>
        <p:spPr>
          <a:xfrm>
            <a:off x="0" y="0"/>
            <a:ext cx="3999900" cy="3999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g3d2f3a95ecd_0_101:notes"/>
          <p:cNvSpPr txBox="1"/>
          <p:nvPr>
            <p:ph idx="1" type="body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d2f3a95ecd_0_101:notes"/>
          <p:cNvSpPr txBox="1"/>
          <p:nvPr>
            <p:ph idx="12" type="sldNum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2f3a95ecd_0_157:notes"/>
          <p:cNvSpPr/>
          <p:nvPr>
            <p:ph idx="2" type="sldImg"/>
          </p:nvPr>
        </p:nvSpPr>
        <p:spPr>
          <a:xfrm>
            <a:off x="0" y="0"/>
            <a:ext cx="3999900" cy="3999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d2f3a95ecd_0_157:notes"/>
          <p:cNvSpPr txBox="1"/>
          <p:nvPr>
            <p:ph idx="1" type="body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d2f3a95ecd_0_157:notes"/>
          <p:cNvSpPr txBox="1"/>
          <p:nvPr>
            <p:ph idx="12" type="sldNum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2f3a95ecd_0_210:notes"/>
          <p:cNvSpPr/>
          <p:nvPr>
            <p:ph idx="2" type="sldImg"/>
          </p:nvPr>
        </p:nvSpPr>
        <p:spPr>
          <a:xfrm>
            <a:off x="0" y="0"/>
            <a:ext cx="3999900" cy="3999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d2f3a95ecd_0_210:notes"/>
          <p:cNvSpPr txBox="1"/>
          <p:nvPr>
            <p:ph idx="1" type="body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d2f3a95ecd_0_210:notes"/>
          <p:cNvSpPr txBox="1"/>
          <p:nvPr>
            <p:ph idx="12" type="sldNum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2f3a95ecd_0_272:notes"/>
          <p:cNvSpPr/>
          <p:nvPr>
            <p:ph idx="2" type="sldImg"/>
          </p:nvPr>
        </p:nvSpPr>
        <p:spPr>
          <a:xfrm>
            <a:off x="0" y="0"/>
            <a:ext cx="3999900" cy="3999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d2f3a95ecd_0_272:notes"/>
          <p:cNvSpPr txBox="1"/>
          <p:nvPr>
            <p:ph idx="1" type="body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d2f3a95ecd_0_272:notes"/>
          <p:cNvSpPr txBox="1"/>
          <p:nvPr>
            <p:ph idx="12" type="sldNum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2f3a95ecd_0_331:notes"/>
          <p:cNvSpPr/>
          <p:nvPr>
            <p:ph idx="2" type="sldImg"/>
          </p:nvPr>
        </p:nvSpPr>
        <p:spPr>
          <a:xfrm>
            <a:off x="0" y="0"/>
            <a:ext cx="3999900" cy="3999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g3d2f3a95ecd_0_331:notes"/>
          <p:cNvSpPr txBox="1"/>
          <p:nvPr>
            <p:ph idx="1" type="body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d2f3a95ecd_0_331:notes"/>
          <p:cNvSpPr txBox="1"/>
          <p:nvPr>
            <p:ph idx="12" type="sldNum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2f3a95ecd_0_305:notes"/>
          <p:cNvSpPr/>
          <p:nvPr>
            <p:ph idx="2" type="sldImg"/>
          </p:nvPr>
        </p:nvSpPr>
        <p:spPr>
          <a:xfrm>
            <a:off x="0" y="0"/>
            <a:ext cx="3999900" cy="3999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g3d2f3a95ecd_0_305:notes"/>
          <p:cNvSpPr txBox="1"/>
          <p:nvPr>
            <p:ph idx="1" type="body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d2f3a95ecd_0_305:notes"/>
          <p:cNvSpPr txBox="1"/>
          <p:nvPr>
            <p:ph idx="12" type="sldNum"/>
          </p:nvPr>
        </p:nvSpPr>
        <p:spPr>
          <a:xfrm>
            <a:off x="0" y="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18.png"/><Relationship Id="rId13" Type="http://schemas.openxmlformats.org/officeDocument/2006/relationships/image" Target="../media/image19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28.png"/><Relationship Id="rId15" Type="http://schemas.openxmlformats.org/officeDocument/2006/relationships/image" Target="../media/image47.png"/><Relationship Id="rId14" Type="http://schemas.openxmlformats.org/officeDocument/2006/relationships/image" Target="../media/image27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34.png"/><Relationship Id="rId13" Type="http://schemas.openxmlformats.org/officeDocument/2006/relationships/image" Target="../media/image54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7.png"/><Relationship Id="rId9" Type="http://schemas.openxmlformats.org/officeDocument/2006/relationships/image" Target="../media/image36.png"/><Relationship Id="rId15" Type="http://schemas.openxmlformats.org/officeDocument/2006/relationships/image" Target="../media/image45.png"/><Relationship Id="rId14" Type="http://schemas.openxmlformats.org/officeDocument/2006/relationships/image" Target="../media/image46.png"/><Relationship Id="rId5" Type="http://schemas.openxmlformats.org/officeDocument/2006/relationships/image" Target="../media/image32.png"/><Relationship Id="rId6" Type="http://schemas.openxmlformats.org/officeDocument/2006/relationships/image" Target="../media/image37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2.png"/><Relationship Id="rId10" Type="http://schemas.openxmlformats.org/officeDocument/2006/relationships/image" Target="../media/image56.png"/><Relationship Id="rId13" Type="http://schemas.openxmlformats.org/officeDocument/2006/relationships/image" Target="../media/image44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9" Type="http://schemas.openxmlformats.org/officeDocument/2006/relationships/image" Target="../media/image41.png"/><Relationship Id="rId15" Type="http://schemas.openxmlformats.org/officeDocument/2006/relationships/image" Target="../media/image53.png"/><Relationship Id="rId14" Type="http://schemas.openxmlformats.org/officeDocument/2006/relationships/image" Target="../media/image58.png"/><Relationship Id="rId5" Type="http://schemas.openxmlformats.org/officeDocument/2006/relationships/image" Target="../media/image31.png"/><Relationship Id="rId6" Type="http://schemas.openxmlformats.org/officeDocument/2006/relationships/image" Target="../media/image51.png"/><Relationship Id="rId7" Type="http://schemas.openxmlformats.org/officeDocument/2006/relationships/image" Target="../media/image57.png"/><Relationship Id="rId8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5.png"/><Relationship Id="rId9" Type="http://schemas.openxmlformats.org/officeDocument/2006/relationships/image" Target="../media/image63.png"/><Relationship Id="rId5" Type="http://schemas.openxmlformats.org/officeDocument/2006/relationships/image" Target="../media/image50.png"/><Relationship Id="rId6" Type="http://schemas.openxmlformats.org/officeDocument/2006/relationships/image" Target="../media/image77.png"/><Relationship Id="rId7" Type="http://schemas.openxmlformats.org/officeDocument/2006/relationships/image" Target="../media/image62.png"/><Relationship Id="rId8" Type="http://schemas.openxmlformats.org/officeDocument/2006/relationships/image" Target="../media/image71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5.png"/><Relationship Id="rId9" Type="http://schemas.openxmlformats.org/officeDocument/2006/relationships/image" Target="../media/image74.png"/><Relationship Id="rId5" Type="http://schemas.openxmlformats.org/officeDocument/2006/relationships/image" Target="../media/image60.png"/><Relationship Id="rId6" Type="http://schemas.openxmlformats.org/officeDocument/2006/relationships/image" Target="../media/image64.png"/><Relationship Id="rId7" Type="http://schemas.openxmlformats.org/officeDocument/2006/relationships/image" Target="../media/image61.png"/><Relationship Id="rId8" Type="http://schemas.openxmlformats.org/officeDocument/2006/relationships/image" Target="../media/image8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9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79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2.png"/><Relationship Id="rId4" Type="http://schemas.openxmlformats.org/officeDocument/2006/relationships/image" Target="../media/image80.png"/><Relationship Id="rId9" Type="http://schemas.openxmlformats.org/officeDocument/2006/relationships/image" Target="../media/image73.png"/><Relationship Id="rId5" Type="http://schemas.openxmlformats.org/officeDocument/2006/relationships/image" Target="../media/image66.png"/><Relationship Id="rId6" Type="http://schemas.openxmlformats.org/officeDocument/2006/relationships/image" Target="../media/image76.png"/><Relationship Id="rId7" Type="http://schemas.openxmlformats.org/officeDocument/2006/relationships/image" Target="../media/image72.png"/><Relationship Id="rId8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094692" y="3429000"/>
            <a:ext cx="7408584" cy="740858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2628900" y="2921000"/>
            <a:ext cx="75441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0"/>
              <a:buFont typeface="PT Mono"/>
              <a:buNone/>
            </a:pPr>
            <a:r>
              <a:rPr b="1" lang="en-US" sz="6700">
                <a:solidFill>
                  <a:srgbClr val="00FF88"/>
                </a:solidFill>
                <a:latin typeface="PT Mono"/>
                <a:ea typeface="PT Mono"/>
                <a:cs typeface="PT Mono"/>
                <a:sym typeface="PT Mono"/>
              </a:rPr>
              <a:t>MyBaT</a:t>
            </a:r>
            <a:endParaRPr b="1" i="0" sz="7000" u="none" cap="none" strike="noStrike">
              <a:solidFill>
                <a:srgbClr val="00FF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144375" y="3937000"/>
            <a:ext cx="65598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PT Mono"/>
              <a:buNone/>
            </a:pPr>
            <a:r>
              <a:rPr lang="en-US" sz="32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MLADI BOGATI TUESARI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724400" y="4953000"/>
            <a:ext cx="33591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6681" y="6020704"/>
            <a:ext cx="2508237" cy="2662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circles&#10;&#10;Description automatically generated" id="23" name="Google Shape;2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9683" y="-5359477"/>
            <a:ext cx="10507007" cy="1004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&#10;&#10;Description automatically generated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04784" y="-2771401"/>
            <a:ext cx="5422030" cy="539675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" name="Google Shape;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992725" y="-3072899"/>
            <a:ext cx="2986377" cy="2926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" name="Google Shape;3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0" y="0"/>
            <a:ext cx="31178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" name="Google Shape;3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6675" y="2367426"/>
            <a:ext cx="3771900" cy="450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1162051" y="654051"/>
            <a:ext cx="101871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T Mono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 и настоящите решения 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482270" y="1634080"/>
            <a:ext cx="4610400" cy="4610400"/>
          </a:xfrm>
          <a:prstGeom prst="rect">
            <a:avLst/>
          </a:prstGeom>
          <a:solidFill>
            <a:srgbClr val="00FF88">
              <a:alpha val="5100"/>
            </a:srgbClr>
          </a:solidFill>
          <a:ln cap="flat" cmpd="sng" w="25400">
            <a:solidFill>
              <a:srgbClr val="00F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673880" y="6206065"/>
            <a:ext cx="418800" cy="38400"/>
          </a:xfrm>
          <a:prstGeom prst="rect">
            <a:avLst/>
          </a:prstGeom>
          <a:solidFill>
            <a:srgbClr val="00FF88"/>
          </a:solidFill>
          <a:ln cap="flat" cmpd="sng" w="12700">
            <a:solidFill>
              <a:srgbClr val="00FF8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768477" y="1919373"/>
            <a:ext cx="609900" cy="609900"/>
          </a:xfrm>
          <a:prstGeom prst="ellipse">
            <a:avLst/>
          </a:prstGeom>
          <a:noFill/>
          <a:ln cap="flat" cmpd="sng" w="25400">
            <a:solidFill>
              <a:srgbClr val="00F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30324" y="2081218"/>
            <a:ext cx="286207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 txBox="1"/>
          <p:nvPr/>
        </p:nvSpPr>
        <p:spPr>
          <a:xfrm>
            <a:off x="2530173" y="1966921"/>
            <a:ext cx="33531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2100"/>
              <a:buFont typeface="Share Tech Mono"/>
              <a:buNone/>
            </a:pPr>
            <a:r>
              <a:rPr b="1" i="0" lang="en-US" sz="2100" u="none" cap="none" strike="noStrike">
                <a:solidFill>
                  <a:srgbClr val="00FF88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Предизвикателства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768477" y="2681982"/>
            <a:ext cx="19200" cy="57150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1977875" y="2681982"/>
            <a:ext cx="3867900" cy="5715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Roboto"/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✕</a:t>
            </a:r>
            <a:r>
              <a:rPr b="0" i="0" lang="en-US" sz="1500" u="none" cap="none" strike="noStrike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Трудна ориентация в динамична градска среда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768477" y="3491226"/>
            <a:ext cx="19200" cy="57150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1977875" y="3491226"/>
            <a:ext cx="3867900" cy="5715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Roboto"/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✕</a:t>
            </a:r>
            <a:r>
              <a:rPr b="0" i="0" lang="en-US" sz="1500" u="none" cap="none" strike="noStrike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Бастунът засича препятствия само на 1 метър разстояние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768477" y="4300470"/>
            <a:ext cx="19200" cy="57150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1977875" y="4300470"/>
            <a:ext cx="3867900" cy="5715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Roboto"/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✕</a:t>
            </a:r>
            <a:r>
              <a:rPr b="0" i="0" lang="en-US" sz="1500" u="none" cap="none" strike="noStrike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Липса на контекст: "Какво е пред мен? Стълб или човек?"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768477" y="5110629"/>
            <a:ext cx="19200" cy="57150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1977875" y="5110629"/>
            <a:ext cx="3867900" cy="5715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Roboto"/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✕</a:t>
            </a:r>
            <a:r>
              <a:rPr b="0" i="0" lang="en-US" sz="1500" u="none" cap="none" strike="noStrike">
                <a:solidFill>
                  <a:srgbClr val="DDDDDD"/>
                </a:solidFill>
                <a:latin typeface="Roboto"/>
                <a:ea typeface="Roboto"/>
                <a:cs typeface="Roboto"/>
                <a:sym typeface="Roboto"/>
              </a:rPr>
              <a:t> Невъзможност за четене на табели и надписи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286500" y="1634080"/>
            <a:ext cx="4610400" cy="4610400"/>
          </a:xfrm>
          <a:prstGeom prst="rect">
            <a:avLst/>
          </a:prstGeom>
          <a:solidFill>
            <a:srgbClr val="FFA500">
              <a:alpha val="5100"/>
            </a:srgbClr>
          </a:solidFill>
          <a:ln cap="flat" cmpd="sng" w="254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286500" y="1634080"/>
            <a:ext cx="418800" cy="38400"/>
          </a:xfrm>
          <a:prstGeom prst="rect">
            <a:avLst/>
          </a:prstGeom>
          <a:solidFill>
            <a:srgbClr val="FFA500"/>
          </a:solidFill>
          <a:ln cap="flat" cmpd="sng" w="12700">
            <a:solidFill>
              <a:srgbClr val="FFA5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0477195" y="6206065"/>
            <a:ext cx="418800" cy="38400"/>
          </a:xfrm>
          <a:prstGeom prst="rect">
            <a:avLst/>
          </a:prstGeom>
          <a:solidFill>
            <a:srgbClr val="FFA500"/>
          </a:solidFill>
          <a:ln cap="flat" cmpd="sng" w="12700">
            <a:solidFill>
              <a:srgbClr val="FFA5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10858500" y="5825675"/>
            <a:ext cx="38400" cy="418800"/>
          </a:xfrm>
          <a:prstGeom prst="rect">
            <a:avLst/>
          </a:prstGeom>
          <a:solidFill>
            <a:srgbClr val="FFA500"/>
          </a:solidFill>
          <a:ln cap="flat" cmpd="sng" w="12700">
            <a:solidFill>
              <a:srgbClr val="FFA5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572707" y="1919373"/>
            <a:ext cx="609900" cy="609900"/>
          </a:xfrm>
          <a:prstGeom prst="ellipse">
            <a:avLst/>
          </a:prstGeom>
          <a:noFill/>
          <a:ln cap="flat" cmpd="sng" w="254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34556" y="2073906"/>
            <a:ext cx="247802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 txBox="1"/>
          <p:nvPr/>
        </p:nvSpPr>
        <p:spPr>
          <a:xfrm>
            <a:off x="7334402" y="1966921"/>
            <a:ext cx="33531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500"/>
              </a:buClr>
              <a:buSzPts val="2100"/>
              <a:buFont typeface="Share Tech Mono"/>
              <a:buNone/>
            </a:pPr>
            <a:r>
              <a:rPr b="1" i="0" lang="en-US" sz="2100" u="none" cap="none" strike="noStrike">
                <a:solidFill>
                  <a:srgbClr val="FFA500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Ограничения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572707" y="3673192"/>
            <a:ext cx="4000500" cy="9000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44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 txBox="1"/>
          <p:nvPr/>
        </p:nvSpPr>
        <p:spPr>
          <a:xfrm>
            <a:off x="6572707" y="2681982"/>
            <a:ext cx="4077300" cy="8487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500"/>
              </a:buClr>
              <a:buSzPts val="1500"/>
              <a:buFont typeface="Share Tech Mono"/>
              <a:buNone/>
            </a:pPr>
            <a:r>
              <a:rPr b="1" i="0" lang="en-US" sz="1500" u="none" cap="none" strike="noStrike">
                <a:solidFill>
                  <a:srgbClr val="FFA500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&gt; Бял бастун</a:t>
            </a:r>
            <a:r>
              <a:rPr b="1" lang="en-US" sz="1500">
                <a:solidFill>
                  <a:srgbClr val="FFA500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-</a:t>
            </a:r>
            <a:r>
              <a:rPr b="0" i="0" lang="en-US" sz="13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Ниска информативност, изисква физически контакт с обекта.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572707" y="4863741"/>
            <a:ext cx="4000500" cy="9000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4444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 txBox="1"/>
          <p:nvPr/>
        </p:nvSpPr>
        <p:spPr>
          <a:xfrm>
            <a:off x="6572707" y="3872531"/>
            <a:ext cx="4077300" cy="8487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500"/>
              </a:buClr>
              <a:buSzPts val="1500"/>
              <a:buFont typeface="Share Tech Mono"/>
              <a:buNone/>
            </a:pPr>
            <a:r>
              <a:rPr b="1" i="0" lang="en-US" sz="1500" u="none" cap="none" strike="noStrike">
                <a:solidFill>
                  <a:srgbClr val="FFA500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&gt; Мобилни </a:t>
            </a:r>
            <a:r>
              <a:rPr b="1" i="0" lang="en-US" sz="1500" u="none" cap="none" strike="noStrike">
                <a:solidFill>
                  <a:srgbClr val="FFA500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приложения</a:t>
            </a:r>
            <a:r>
              <a:rPr b="1" lang="en-US" sz="1500">
                <a:solidFill>
                  <a:srgbClr val="FFA500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-</a:t>
            </a:r>
            <a:r>
              <a:rPr b="0" i="0" lang="en-US" sz="13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Изискват </a:t>
            </a:r>
            <a:r>
              <a:rPr b="0" i="0" lang="en-US" sz="13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държане на телефон (заети ръце), нестабилна точност.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6572707" y="5063080"/>
            <a:ext cx="40773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500"/>
              </a:buClr>
              <a:buSzPts val="1500"/>
              <a:buFont typeface="Share Tech Mono"/>
              <a:buNone/>
            </a:pPr>
            <a:r>
              <a:rPr b="1" i="0" lang="en-US" sz="1500" u="none" cap="none" strike="noStrike">
                <a:solidFill>
                  <a:srgbClr val="FFA500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&gt; Специализирани очила</a:t>
            </a:r>
            <a:r>
              <a:rPr b="1" lang="en-US" sz="1500">
                <a:solidFill>
                  <a:srgbClr val="FFA500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-</a:t>
            </a:r>
            <a:r>
              <a:rPr b="0" i="0" lang="en-US" sz="13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Често струват хиляди </a:t>
            </a:r>
            <a:r>
              <a:rPr lang="en-US" sz="1300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евро</a:t>
            </a:r>
            <a:r>
              <a:rPr b="0" i="0" lang="en-US" sz="13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и са трудни за поддръжка.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yellow circle on a black background&#10;&#10;Description automatically generated" id="66" name="Google Shape;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48435" y="-9178473"/>
            <a:ext cx="19281025" cy="192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772400" y="2863851"/>
            <a:ext cx="6800700" cy="68007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1251" y="2368551"/>
            <a:ext cx="4730750" cy="448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9000" y="3429000"/>
            <a:ext cx="3098800" cy="26987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1162051" y="654051"/>
            <a:ext cx="10484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T Mono"/>
              <a:buNone/>
            </a:pPr>
            <a:r>
              <a:rPr b="0" i="0" lang="en-US" sz="5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b="0" i="0" sz="5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952790" y="1270800"/>
            <a:ext cx="96525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T Mono"/>
              <a:buNone/>
            </a:pPr>
            <a:r>
              <a:rPr lang="en-US" sz="2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Да помогне на хората, загубили зрението си, да се справят с ежедневието си и да възвърнат своята свобода и увереност.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413330" y="2863848"/>
            <a:ext cx="95100" cy="95100"/>
          </a:xfrm>
          <a:prstGeom prst="ellipse">
            <a:avLst/>
          </a:prstGeom>
          <a:solidFill>
            <a:srgbClr val="00FF8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 txBox="1"/>
          <p:nvPr/>
        </p:nvSpPr>
        <p:spPr>
          <a:xfrm>
            <a:off x="1573625" y="2765675"/>
            <a:ext cx="6534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Постигане на </a:t>
            </a:r>
            <a:r>
              <a:rPr b="1" i="0" lang="en-US" sz="1800" u="none" cap="none" strike="noStrike">
                <a:solidFill>
                  <a:srgbClr val="00FF88"/>
                </a:solidFill>
                <a:latin typeface="Roboto"/>
                <a:ea typeface="Roboto"/>
                <a:cs typeface="Roboto"/>
                <a:sym typeface="Roboto"/>
              </a:rPr>
              <a:t>самостоятелност</a:t>
            </a: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и безопасност за потребителя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413330" y="3659320"/>
            <a:ext cx="95100" cy="95100"/>
          </a:xfrm>
          <a:prstGeom prst="ellipse">
            <a:avLst/>
          </a:prstGeom>
          <a:solidFill>
            <a:srgbClr val="FFA50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1594650" y="3531528"/>
            <a:ext cx="58212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Описване на сцени и </a:t>
            </a:r>
            <a:r>
              <a:rPr b="1" i="0" lang="en-US" sz="1800" u="none" cap="none" strike="noStrike">
                <a:solidFill>
                  <a:srgbClr val="FFA500"/>
                </a:solidFill>
                <a:latin typeface="Roboto"/>
                <a:ea typeface="Roboto"/>
                <a:cs typeface="Roboto"/>
                <a:sym typeface="Roboto"/>
              </a:rPr>
              <a:t>разпознаване на текст</a:t>
            </a: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в </a:t>
            </a: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р</a:t>
            </a: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еално време (AI)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413330" y="4454807"/>
            <a:ext cx="95100" cy="95100"/>
          </a:xfrm>
          <a:prstGeom prst="ellipse">
            <a:avLst/>
          </a:prstGeom>
          <a:solidFill>
            <a:srgbClr val="00FF8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 txBox="1"/>
          <p:nvPr/>
        </p:nvSpPr>
        <p:spPr>
          <a:xfrm>
            <a:off x="1573625" y="4346275"/>
            <a:ext cx="61140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Хаптична навигация чрез </a:t>
            </a:r>
            <a:r>
              <a:rPr b="1" i="0" lang="en-US" sz="1800" u="none" cap="none" strike="noStrike">
                <a:solidFill>
                  <a:srgbClr val="00FF88"/>
                </a:solidFill>
                <a:latin typeface="Roboto"/>
                <a:ea typeface="Roboto"/>
                <a:cs typeface="Roboto"/>
                <a:sym typeface="Roboto"/>
              </a:rPr>
              <a:t>вибрации</a:t>
            </a: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според близостта на препятствията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413330" y="5292698"/>
            <a:ext cx="95100" cy="95100"/>
          </a:xfrm>
          <a:prstGeom prst="ellipse">
            <a:avLst/>
          </a:prstGeom>
          <a:solidFill>
            <a:srgbClr val="FFA50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 txBox="1"/>
          <p:nvPr/>
        </p:nvSpPr>
        <p:spPr>
          <a:xfrm>
            <a:off x="1573624" y="5206750"/>
            <a:ext cx="4608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Аудио обратна връзка с </a:t>
            </a:r>
            <a:r>
              <a:rPr b="1" i="0" lang="en-US" sz="1800" u="none" cap="none" strike="noStrike">
                <a:solidFill>
                  <a:srgbClr val="FFA500"/>
                </a:solidFill>
                <a:latin typeface="Roboto"/>
                <a:ea typeface="Roboto"/>
                <a:cs typeface="Roboto"/>
                <a:sym typeface="Roboto"/>
              </a:rPr>
              <a:t>естествен глас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&#10;&#10;Description automatically generated"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120093" y="-7946037"/>
            <a:ext cx="12381381" cy="12381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8" name="Google Shape;8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5251" y="2533651"/>
            <a:ext cx="7016750" cy="43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/>
          <p:nvPr/>
        </p:nvSpPr>
        <p:spPr>
          <a:xfrm>
            <a:off x="11340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314500"/>
            <a:ext cx="2234325" cy="29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1162051" y="349301"/>
            <a:ext cx="10484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T Mono"/>
              <a:buNone/>
            </a:pPr>
            <a:r>
              <a:rPr lang="en-US" sz="32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Нашето решение: </a:t>
            </a:r>
            <a:r>
              <a:rPr lang="en-US" sz="3200">
                <a:solidFill>
                  <a:srgbClr val="00FF88"/>
                </a:solidFill>
                <a:latin typeface="PT Mono"/>
                <a:ea typeface="PT Mono"/>
                <a:cs typeface="PT Mono"/>
                <a:sym typeface="PT Mono"/>
              </a:rPr>
              <a:t>MyBaT</a:t>
            </a:r>
            <a:endParaRPr b="0" i="0" sz="3200" u="none" cap="none" strike="noStrike">
              <a:solidFill>
                <a:srgbClr val="00FF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circle with a dot&#10;&#10;Description automatically generated" id="93" name="Google Shape;9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4951" y="2682500"/>
            <a:ext cx="8214098" cy="821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9525305" y="-1429207"/>
            <a:ext cx="3847800" cy="3847800"/>
          </a:xfrm>
          <a:prstGeom prst="ellipse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6"/>
          <p:cNvPicPr preferRelativeResize="0"/>
          <p:nvPr/>
        </p:nvPicPr>
        <p:blipFill rotWithShape="1">
          <a:blip r:embed="rId8">
            <a:alphaModFix amt="50000"/>
          </a:blip>
          <a:srcRect b="0" l="-403" r="-393" t="0"/>
          <a:stretch/>
        </p:blipFill>
        <p:spPr>
          <a:xfrm>
            <a:off x="381305" y="0"/>
            <a:ext cx="1920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6"/>
          <p:cNvPicPr preferRelativeResize="0"/>
          <p:nvPr/>
        </p:nvPicPr>
        <p:blipFill rotWithShape="1">
          <a:blip r:embed="rId9">
            <a:alphaModFix/>
          </a:blip>
          <a:srcRect b="-475" l="0" r="0" t="-485"/>
          <a:stretch/>
        </p:blipFill>
        <p:spPr>
          <a:xfrm>
            <a:off x="476402" y="952805"/>
            <a:ext cx="19019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6"/>
          <p:cNvPicPr preferRelativeResize="0"/>
          <p:nvPr/>
        </p:nvPicPr>
        <p:blipFill rotWithShape="1">
          <a:blip r:embed="rId9">
            <a:alphaModFix/>
          </a:blip>
          <a:srcRect b="-475" l="0" r="0" t="-485"/>
          <a:stretch/>
        </p:blipFill>
        <p:spPr>
          <a:xfrm>
            <a:off x="476402" y="5715000"/>
            <a:ext cx="19019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 rot="8100000">
            <a:off x="5327176" y="2869737"/>
            <a:ext cx="113703" cy="322016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86405" y="2717605"/>
            <a:ext cx="1962301" cy="196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2286000" y="1524305"/>
            <a:ext cx="2904900" cy="1352400"/>
          </a:xfrm>
          <a:prstGeom prst="roundRect">
            <a:avLst>
              <a:gd fmla="val 7618" name="adj"/>
            </a:avLst>
          </a:prstGeom>
          <a:solidFill>
            <a:srgbClr val="11182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2286000" y="1524305"/>
            <a:ext cx="38400" cy="1352400"/>
          </a:xfrm>
          <a:prstGeom prst="roundRect">
            <a:avLst>
              <a:gd fmla="val 268275" name="adj"/>
            </a:avLst>
          </a:prstGeom>
          <a:solidFill>
            <a:srgbClr val="FFA500"/>
          </a:solidFill>
          <a:ln cap="flat" cmpd="sng" w="12700">
            <a:solidFill>
              <a:srgbClr val="FFA5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7810805" y="1524305"/>
            <a:ext cx="2904900" cy="13524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7810805" y="1524305"/>
            <a:ext cx="38400" cy="13524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2286000" y="4381805"/>
            <a:ext cx="2904900" cy="1352400"/>
          </a:xfrm>
          <a:prstGeom prst="roundRect">
            <a:avLst>
              <a:gd fmla="val 7618" name="adj"/>
            </a:avLst>
          </a:prstGeom>
          <a:solidFill>
            <a:srgbClr val="11182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2286000" y="4381805"/>
            <a:ext cx="38400" cy="1352400"/>
          </a:xfrm>
          <a:prstGeom prst="roundRect">
            <a:avLst>
              <a:gd fmla="val 268275" name="adj"/>
            </a:avLst>
          </a:prstGeom>
          <a:solidFill>
            <a:srgbClr val="FFA500"/>
          </a:solidFill>
          <a:ln cap="flat" cmpd="sng" w="12700">
            <a:solidFill>
              <a:srgbClr val="FFA5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7810805" y="4381805"/>
            <a:ext cx="2904900" cy="13524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810805" y="4381805"/>
            <a:ext cx="38400" cy="13524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86705" y="3222798"/>
            <a:ext cx="761695" cy="7616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 txBox="1"/>
          <p:nvPr/>
        </p:nvSpPr>
        <p:spPr>
          <a:xfrm>
            <a:off x="5278800" y="4087598"/>
            <a:ext cx="23775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Share Tech Mono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Share Tech Mono"/>
                <a:ea typeface="Share Tech Mono"/>
                <a:cs typeface="Share Tech Mono"/>
                <a:sym typeface="Share Tech Mono"/>
              </a:rPr>
              <a:t>Raspberry Pi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476195" y="1733702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 txBox="1"/>
          <p:nvPr/>
        </p:nvSpPr>
        <p:spPr>
          <a:xfrm>
            <a:off x="2952598" y="1714500"/>
            <a:ext cx="1981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Камера &amp; Сензори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2952598" y="2000707"/>
            <a:ext cx="19815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Заснемане на средата и ултразвуково измерване на разстояния.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01000" y="1733702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 txBox="1"/>
          <p:nvPr/>
        </p:nvSpPr>
        <p:spPr>
          <a:xfrm>
            <a:off x="8477402" y="1714500"/>
            <a:ext cx="19896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Анализ (Gemini)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8477402" y="2000707"/>
            <a:ext cx="19815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Обработка в реално време за разпознаване на обекти и текст.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6"/>
          <p:cNvPicPr preferRelativeResize="0"/>
          <p:nvPr/>
        </p:nvPicPr>
        <p:blipFill rotWithShape="1">
          <a:blip r:embed="rId14">
            <a:alphaModFix/>
          </a:blip>
          <a:srcRect b="0" l="-90" r="-90" t="0"/>
          <a:stretch/>
        </p:blipFill>
        <p:spPr>
          <a:xfrm>
            <a:off x="2476195" y="4591202"/>
            <a:ext cx="3813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 txBox="1"/>
          <p:nvPr/>
        </p:nvSpPr>
        <p:spPr>
          <a:xfrm>
            <a:off x="2952598" y="4572000"/>
            <a:ext cx="1981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Гласови съобщения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2952598" y="4858207"/>
            <a:ext cx="19815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Text-to-Speech аудио инструкции на български език.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6"/>
          <p:cNvPicPr preferRelativeResize="0"/>
          <p:nvPr/>
        </p:nvPicPr>
        <p:blipFill rotWithShape="1">
          <a:blip r:embed="rId15">
            <a:alphaModFix/>
          </a:blip>
          <a:srcRect b="0" l="-50" r="-50" t="0"/>
          <a:stretch/>
        </p:blipFill>
        <p:spPr>
          <a:xfrm>
            <a:off x="8001000" y="4591202"/>
            <a:ext cx="342900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 txBox="1"/>
          <p:nvPr/>
        </p:nvSpPr>
        <p:spPr>
          <a:xfrm>
            <a:off x="8477402" y="4572000"/>
            <a:ext cx="1981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Модулен дизайн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8477402" y="4858207"/>
            <a:ext cx="19815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Лесна подмяна на компоненти и гъвкава архитектура.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 rot="8100000">
            <a:off x="7572901" y="4080637"/>
            <a:ext cx="113703" cy="322016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 rot="-8100000">
            <a:off x="7545901" y="2907737"/>
            <a:ext cx="113703" cy="322016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 rot="-8100000">
            <a:off x="5327176" y="4120287"/>
            <a:ext cx="113703" cy="322016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/>
          <p:nvPr/>
        </p:nvSpPr>
        <p:spPr>
          <a:xfrm>
            <a:off x="1162051" y="660400"/>
            <a:ext cx="10484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T Mono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 работи </a:t>
            </a:r>
            <a:r>
              <a:rPr lang="en-US" sz="3200">
                <a:solidFill>
                  <a:srgbClr val="00FF88"/>
                </a:solidFill>
                <a:latin typeface="PT Mono"/>
                <a:ea typeface="PT Mono"/>
                <a:cs typeface="PT Mono"/>
                <a:sym typeface="PT Mono"/>
              </a:rPr>
              <a:t>MyBaT</a:t>
            </a:r>
            <a:r>
              <a:rPr b="0" i="0" lang="en-US" sz="32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ircle with a black background&#10;&#10;Description automatically generated" id="133" name="Google Shape;13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541409" y="3787303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ircular logo with a black background&#10;&#10;Description automatically generated" id="134" name="Google Shape;13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1" y="134471"/>
            <a:ext cx="6857998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7"/>
          <p:cNvPicPr preferRelativeResize="0"/>
          <p:nvPr/>
        </p:nvPicPr>
        <p:blipFill rotWithShape="1">
          <a:blip r:embed="rId6">
            <a:alphaModFix/>
          </a:blip>
          <a:srcRect b="-403" l="0" r="0" t="-393"/>
          <a:stretch/>
        </p:blipFill>
        <p:spPr>
          <a:xfrm>
            <a:off x="1619402" y="2286000"/>
            <a:ext cx="8953803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598" y="1904695"/>
            <a:ext cx="1923899" cy="3685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05049" y="1904695"/>
            <a:ext cx="1923899" cy="3685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43500" y="1904695"/>
            <a:ext cx="1923899" cy="3685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81951" y="1904695"/>
            <a:ext cx="1923899" cy="3685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402" y="1904695"/>
            <a:ext cx="1923899" cy="36859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p7"/>
          <p:cNvPicPr preferRelativeResize="0"/>
          <p:nvPr/>
        </p:nvPicPr>
        <p:blipFill rotWithShape="1">
          <a:blip r:embed="rId9">
            <a:alphaModFix/>
          </a:blip>
          <a:srcRect b="0" l="-1921" r="-1921" t="0"/>
          <a:stretch/>
        </p:blipFill>
        <p:spPr>
          <a:xfrm>
            <a:off x="2590495" y="3633826"/>
            <a:ext cx="123444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7"/>
          <p:cNvPicPr preferRelativeResize="0"/>
          <p:nvPr/>
        </p:nvPicPr>
        <p:blipFill rotWithShape="1">
          <a:blip r:embed="rId10">
            <a:alphaModFix/>
          </a:blip>
          <a:srcRect b="0" l="-1921" r="-1921" t="0"/>
          <a:stretch/>
        </p:blipFill>
        <p:spPr>
          <a:xfrm>
            <a:off x="4828946" y="3633826"/>
            <a:ext cx="123444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7"/>
          <p:cNvPicPr preferRelativeResize="0"/>
          <p:nvPr/>
        </p:nvPicPr>
        <p:blipFill rotWithShape="1">
          <a:blip r:embed="rId9">
            <a:alphaModFix/>
          </a:blip>
          <a:srcRect b="0" l="-1921" r="-1921" t="0"/>
          <a:stretch/>
        </p:blipFill>
        <p:spPr>
          <a:xfrm>
            <a:off x="7067398" y="3633826"/>
            <a:ext cx="123444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7"/>
          <p:cNvPicPr preferRelativeResize="0"/>
          <p:nvPr/>
        </p:nvPicPr>
        <p:blipFill rotWithShape="1">
          <a:blip r:embed="rId10">
            <a:alphaModFix/>
          </a:blip>
          <a:srcRect b="0" l="-1921" r="-1921" t="0"/>
          <a:stretch/>
        </p:blipFill>
        <p:spPr>
          <a:xfrm>
            <a:off x="9305849" y="3633826"/>
            <a:ext cx="123444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80744" y="2498141"/>
            <a:ext cx="476402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 txBox="1"/>
          <p:nvPr/>
        </p:nvSpPr>
        <p:spPr>
          <a:xfrm>
            <a:off x="771754" y="3238805"/>
            <a:ext cx="1696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Заснемане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777240" y="3715207"/>
            <a:ext cx="1684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Камерата заснема изображение на средата пред потребителя в реално време.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19195" y="2498141"/>
            <a:ext cx="476402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3010205" y="3238805"/>
            <a:ext cx="1696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Анализ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3015691" y="3715207"/>
            <a:ext cx="16842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Google Gemini API обработва кадрите, извлича текст и описва сцени и обекти.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57646" y="2498141"/>
            <a:ext cx="476402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 txBox="1"/>
          <p:nvPr/>
        </p:nvSpPr>
        <p:spPr>
          <a:xfrm>
            <a:off x="5248656" y="3238805"/>
            <a:ext cx="1696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Измерване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5254142" y="3715207"/>
            <a:ext cx="1684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Ултразвуковите сензори непрекъснато измерват разстоянието до най-близките препятствия.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7"/>
          <p:cNvPicPr preferRelativeResize="0"/>
          <p:nvPr/>
        </p:nvPicPr>
        <p:blipFill rotWithShape="1">
          <a:blip r:embed="rId14">
            <a:alphaModFix/>
          </a:blip>
          <a:srcRect b="0" l="-363" r="-363" t="0"/>
          <a:stretch/>
        </p:blipFill>
        <p:spPr>
          <a:xfrm>
            <a:off x="8048549" y="2498141"/>
            <a:ext cx="599846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 txBox="1"/>
          <p:nvPr/>
        </p:nvSpPr>
        <p:spPr>
          <a:xfrm>
            <a:off x="7487107" y="3238805"/>
            <a:ext cx="1696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Вибрация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7492594" y="3715207"/>
            <a:ext cx="16842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Системата активира вибрационни мотори с различен интензитет според близостта.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7"/>
          <p:cNvPicPr preferRelativeResize="0"/>
          <p:nvPr/>
        </p:nvPicPr>
        <p:blipFill rotWithShape="1">
          <a:blip r:embed="rId15">
            <a:alphaModFix/>
          </a:blip>
          <a:srcRect b="0" l="-363" r="-363" t="0"/>
          <a:stretch/>
        </p:blipFill>
        <p:spPr>
          <a:xfrm>
            <a:off x="10287000" y="2498141"/>
            <a:ext cx="599846" cy="47640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/>
        </p:nvSpPr>
        <p:spPr>
          <a:xfrm>
            <a:off x="9724644" y="3238805"/>
            <a:ext cx="1696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Аудио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9731045" y="3715207"/>
            <a:ext cx="16842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Text-to-Speech (TTS) модулът генерира ясни гласови насоки за потребителя.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343254" y="1714500"/>
            <a:ext cx="552300" cy="552300"/>
          </a:xfrm>
          <a:prstGeom prst="ellipse">
            <a:avLst/>
          </a:prstGeom>
          <a:solidFill>
            <a:srgbClr val="00FF88"/>
          </a:solidFill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3581705" y="1714500"/>
            <a:ext cx="552300" cy="552300"/>
          </a:xfrm>
          <a:prstGeom prst="ellipse">
            <a:avLst/>
          </a:prstGeom>
          <a:solidFill>
            <a:srgbClr val="FF8C00"/>
          </a:solidFill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5820156" y="1714500"/>
            <a:ext cx="552300" cy="552300"/>
          </a:xfrm>
          <a:prstGeom prst="ellipse">
            <a:avLst/>
          </a:prstGeom>
          <a:solidFill>
            <a:srgbClr val="00FF88"/>
          </a:solidFill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8058607" y="1714500"/>
            <a:ext cx="552300" cy="552300"/>
          </a:xfrm>
          <a:prstGeom prst="ellipse">
            <a:avLst/>
          </a:prstGeom>
          <a:solidFill>
            <a:srgbClr val="FF8C00"/>
          </a:solidFill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10296144" y="1714500"/>
            <a:ext cx="552300" cy="552300"/>
          </a:xfrm>
          <a:prstGeom prst="ellipse">
            <a:avLst/>
          </a:prstGeom>
          <a:solidFill>
            <a:srgbClr val="00FF88"/>
          </a:solidFill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1343254" y="1828800"/>
            <a:ext cx="55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3581705" y="1828800"/>
            <a:ext cx="55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5820156" y="1828800"/>
            <a:ext cx="55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8058607" y="1828800"/>
            <a:ext cx="55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10296144" y="1828800"/>
            <a:ext cx="55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&#10;&#10;Description automatically generated"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153303" y="2667000"/>
            <a:ext cx="8915400" cy="891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 shot of a clock&#10;&#10;Description automatically generated" id="176" name="Google Shape;17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2143" y="-439271"/>
            <a:ext cx="5511862" cy="866843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1162051" y="666751"/>
            <a:ext cx="10484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T Mono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333195" y="1524305"/>
            <a:ext cx="4591200" cy="4619400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1333195" y="1524305"/>
            <a:ext cx="4591200" cy="38400"/>
          </a:xfrm>
          <a:prstGeom prst="rect">
            <a:avLst/>
          </a:prstGeom>
          <a:solidFill>
            <a:srgbClr val="00FF88"/>
          </a:solidFill>
          <a:ln cap="flat" cmpd="sng" w="12700">
            <a:solidFill>
              <a:srgbClr val="00FF8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6286500" y="1524305"/>
            <a:ext cx="4591200" cy="4619400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6286500" y="1524305"/>
            <a:ext cx="4591200" cy="38400"/>
          </a:xfrm>
          <a:prstGeom prst="rect">
            <a:avLst/>
          </a:prstGeom>
          <a:solidFill>
            <a:srgbClr val="FFA500"/>
          </a:solidFill>
          <a:ln cap="flat" cmpd="sng" w="12700">
            <a:solidFill>
              <a:srgbClr val="FFA5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1524305" y="2476195"/>
            <a:ext cx="422910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1524305" y="2476195"/>
            <a:ext cx="28200" cy="685800"/>
          </a:xfrm>
          <a:prstGeom prst="rect">
            <a:avLst/>
          </a:prstGeom>
          <a:solidFill>
            <a:srgbClr val="00FF88"/>
          </a:solidFill>
          <a:ln cap="flat" cmpd="sng" w="12700">
            <a:solidFill>
              <a:srgbClr val="00FF8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1524305" y="3286354"/>
            <a:ext cx="422910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524305" y="3286354"/>
            <a:ext cx="28200" cy="685800"/>
          </a:xfrm>
          <a:prstGeom prst="rect">
            <a:avLst/>
          </a:prstGeom>
          <a:solidFill>
            <a:srgbClr val="00FF88"/>
          </a:solidFill>
          <a:ln cap="flat" cmpd="sng" w="12700">
            <a:solidFill>
              <a:srgbClr val="00FF8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1524305" y="4095598"/>
            <a:ext cx="422910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1524305" y="4095598"/>
            <a:ext cx="28200" cy="685800"/>
          </a:xfrm>
          <a:prstGeom prst="rect">
            <a:avLst/>
          </a:prstGeom>
          <a:solidFill>
            <a:srgbClr val="00FF88"/>
          </a:solidFill>
          <a:ln cap="flat" cmpd="sng" w="12700">
            <a:solidFill>
              <a:srgbClr val="00FF8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524305" y="4905756"/>
            <a:ext cx="422910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1524305" y="4905756"/>
            <a:ext cx="28200" cy="685800"/>
          </a:xfrm>
          <a:prstGeom prst="rect">
            <a:avLst/>
          </a:prstGeom>
          <a:solidFill>
            <a:srgbClr val="00FF88"/>
          </a:solidFill>
          <a:ln cap="flat" cmpd="sng" w="12700">
            <a:solidFill>
              <a:srgbClr val="00FF8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6476695" y="2476195"/>
            <a:ext cx="422910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6476695" y="2476195"/>
            <a:ext cx="28200" cy="685800"/>
          </a:xfrm>
          <a:prstGeom prst="rect">
            <a:avLst/>
          </a:prstGeom>
          <a:solidFill>
            <a:srgbClr val="FFA500"/>
          </a:solidFill>
          <a:ln cap="flat" cmpd="sng" w="12700">
            <a:solidFill>
              <a:srgbClr val="FFA5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476695" y="3286354"/>
            <a:ext cx="422910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476695" y="3286354"/>
            <a:ext cx="28200" cy="685800"/>
          </a:xfrm>
          <a:prstGeom prst="rect">
            <a:avLst/>
          </a:prstGeom>
          <a:solidFill>
            <a:srgbClr val="FFA500"/>
          </a:solidFill>
          <a:ln cap="flat" cmpd="sng" w="12700">
            <a:solidFill>
              <a:srgbClr val="FFA5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476695" y="4095598"/>
            <a:ext cx="422910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6476695" y="4095598"/>
            <a:ext cx="28200" cy="685800"/>
          </a:xfrm>
          <a:prstGeom prst="rect">
            <a:avLst/>
          </a:prstGeom>
          <a:solidFill>
            <a:srgbClr val="FFA500"/>
          </a:solidFill>
          <a:ln cap="flat" cmpd="sng" w="12700">
            <a:solidFill>
              <a:srgbClr val="FFA5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6476695" y="4905756"/>
            <a:ext cx="4229100" cy="6858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476695" y="4905756"/>
            <a:ext cx="28200" cy="685800"/>
          </a:xfrm>
          <a:prstGeom prst="rect">
            <a:avLst/>
          </a:prstGeom>
          <a:solidFill>
            <a:srgbClr val="FFA500"/>
          </a:solidFill>
          <a:ln cap="flat" cmpd="sng" w="12700">
            <a:solidFill>
              <a:srgbClr val="FFA5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19402" y="1828800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 txBox="1"/>
          <p:nvPr/>
        </p:nvSpPr>
        <p:spPr>
          <a:xfrm>
            <a:off x="2190902" y="1809598"/>
            <a:ext cx="3543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Хардуер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8"/>
          <p:cNvPicPr preferRelativeResize="0"/>
          <p:nvPr/>
        </p:nvPicPr>
        <p:blipFill rotWithShape="1">
          <a:blip r:embed="rId7">
            <a:alphaModFix/>
          </a:blip>
          <a:srcRect b="-191" l="0" r="0" t="-181"/>
          <a:stretch/>
        </p:blipFill>
        <p:spPr>
          <a:xfrm>
            <a:off x="1714500" y="2676449"/>
            <a:ext cx="18105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 txBox="1"/>
          <p:nvPr/>
        </p:nvSpPr>
        <p:spPr>
          <a:xfrm>
            <a:off x="2190902" y="2572207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Raspberry Pi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2190902" y="2800807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Основен контролер и изчислителна мощ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14500" y="34866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 txBox="1"/>
          <p:nvPr/>
        </p:nvSpPr>
        <p:spPr>
          <a:xfrm>
            <a:off x="2190902" y="3381451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Камера модул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2190902" y="3610051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Заснемане на среда и обекти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4500" y="429585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8"/>
          <p:cNvSpPr txBox="1"/>
          <p:nvPr/>
        </p:nvSpPr>
        <p:spPr>
          <a:xfrm>
            <a:off x="2190902" y="4190695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Ултразвукови сензори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2190902" y="4419295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Прецизно измерване на разстояние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8"/>
          <p:cNvPicPr preferRelativeResize="0"/>
          <p:nvPr/>
        </p:nvPicPr>
        <p:blipFill rotWithShape="1">
          <a:blip r:embed="rId10">
            <a:alphaModFix/>
          </a:blip>
          <a:srcRect b="0" l="-60" r="-50" t="0"/>
          <a:stretch/>
        </p:blipFill>
        <p:spPr>
          <a:xfrm>
            <a:off x="1714500" y="5105095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 txBox="1"/>
          <p:nvPr/>
        </p:nvSpPr>
        <p:spPr>
          <a:xfrm>
            <a:off x="2190902" y="5000854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Вибрационни мотори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2190902" y="5229454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Хаптична обратна връзка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8"/>
          <p:cNvPicPr preferRelativeResize="0"/>
          <p:nvPr/>
        </p:nvPicPr>
        <p:blipFill rotWithShape="1">
          <a:blip r:embed="rId11">
            <a:alphaModFix/>
          </a:blip>
          <a:srcRect b="0" l="-90" r="-90" t="0"/>
          <a:stretch/>
        </p:blipFill>
        <p:spPr>
          <a:xfrm>
            <a:off x="6572707" y="1828800"/>
            <a:ext cx="3813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 txBox="1"/>
          <p:nvPr/>
        </p:nvSpPr>
        <p:spPr>
          <a:xfrm>
            <a:off x="7144207" y="1809598"/>
            <a:ext cx="3543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Софтуер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8"/>
          <p:cNvPicPr preferRelativeResize="0"/>
          <p:nvPr/>
        </p:nvPicPr>
        <p:blipFill rotWithShape="1">
          <a:blip r:embed="rId12">
            <a:alphaModFix/>
          </a:blip>
          <a:srcRect b="0" l="-60" r="-50" t="0"/>
          <a:stretch/>
        </p:blipFill>
        <p:spPr>
          <a:xfrm>
            <a:off x="6667805" y="2676449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 txBox="1"/>
          <p:nvPr/>
        </p:nvSpPr>
        <p:spPr>
          <a:xfrm>
            <a:off x="7144207" y="2572207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Python &amp; RPi.GPIO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7144207" y="2800807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Основна логика и управление на пинове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" name="Google Shape;219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67805" y="34866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 txBox="1"/>
          <p:nvPr/>
        </p:nvSpPr>
        <p:spPr>
          <a:xfrm>
            <a:off x="7144207" y="3381451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Google Gemini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7144207" y="3610051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Изкуствен интелект за анализ на сцени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8"/>
          <p:cNvPicPr preferRelativeResize="0"/>
          <p:nvPr/>
        </p:nvPicPr>
        <p:blipFill rotWithShape="1">
          <a:blip r:embed="rId14">
            <a:alphaModFix/>
          </a:blip>
          <a:srcRect b="-50" l="0" r="0" t="-40"/>
          <a:stretch/>
        </p:blipFill>
        <p:spPr>
          <a:xfrm>
            <a:off x="6667805" y="4295851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 txBox="1"/>
          <p:nvPr/>
        </p:nvSpPr>
        <p:spPr>
          <a:xfrm>
            <a:off x="7144207" y="4190695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Обработка на изображения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7144207" y="4419295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Подготовка на кадри за анализ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8"/>
          <p:cNvPicPr preferRelativeResize="0"/>
          <p:nvPr/>
        </p:nvPicPr>
        <p:blipFill rotWithShape="1">
          <a:blip r:embed="rId15">
            <a:alphaModFix/>
          </a:blip>
          <a:srcRect b="0" l="-80" r="-80" t="0"/>
          <a:stretch/>
        </p:blipFill>
        <p:spPr>
          <a:xfrm>
            <a:off x="6667805" y="5105095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 txBox="1"/>
          <p:nvPr/>
        </p:nvSpPr>
        <p:spPr>
          <a:xfrm>
            <a:off x="7144207" y="5000854"/>
            <a:ext cx="3448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Text-to-Speech (TTS)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7144207" y="5229454"/>
            <a:ext cx="3448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Генериране на естествена реч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/>
          <p:nvPr/>
        </p:nvSpPr>
        <p:spPr>
          <a:xfrm>
            <a:off x="0" y="-593925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8362951" y="4660900"/>
            <a:ext cx="4413300" cy="4413300"/>
          </a:xfrm>
          <a:prstGeom prst="ellipse">
            <a:avLst/>
          </a:prstGeom>
          <a:solidFill>
            <a:srgbClr val="FFB803">
              <a:alpha val="69800"/>
            </a:srgbClr>
          </a:solid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" name="Google Shape;2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586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06501" y="3784500"/>
            <a:ext cx="34353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4951" y="6351"/>
            <a:ext cx="2711450" cy="678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/>
          <p:nvPr/>
        </p:nvSpPr>
        <p:spPr>
          <a:xfrm>
            <a:off x="1162051" y="666751"/>
            <a:ext cx="10484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T Mono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 на работа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ircle with a black background&#10;&#10;Description automatically generated" id="239" name="Google Shape;23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3288300" y="4171951"/>
            <a:ext cx="6858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9"/>
          <p:cNvPicPr preferRelativeResize="0"/>
          <p:nvPr/>
        </p:nvPicPr>
        <p:blipFill rotWithShape="1">
          <a:blip r:embed="rId7">
            <a:alphaModFix/>
          </a:blip>
          <a:srcRect b="-261266" l="0" r="16847" t="-398"/>
          <a:stretch/>
        </p:blipFill>
        <p:spPr>
          <a:xfrm>
            <a:off x="1714500" y="2453775"/>
            <a:ext cx="8554201" cy="1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/>
          <p:nvPr/>
        </p:nvSpPr>
        <p:spPr>
          <a:xfrm>
            <a:off x="1714500" y="2377875"/>
            <a:ext cx="267000" cy="267000"/>
          </a:xfrm>
          <a:prstGeom prst="ellipse">
            <a:avLst/>
          </a:prstGeom>
          <a:solidFill>
            <a:srgbClr val="10B981"/>
          </a:solidFill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4476902" y="2377875"/>
            <a:ext cx="267000" cy="267000"/>
          </a:xfrm>
          <a:prstGeom prst="ellipse">
            <a:avLst/>
          </a:prstGeom>
          <a:solidFill>
            <a:srgbClr val="FFA500"/>
          </a:solidFill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7239305" y="2377875"/>
            <a:ext cx="267000" cy="267000"/>
          </a:xfrm>
          <a:prstGeom prst="ellipse">
            <a:avLst/>
          </a:prstGeom>
          <a:solidFill>
            <a:srgbClr val="10B981"/>
          </a:solidFill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10001707" y="2377875"/>
            <a:ext cx="267000" cy="267000"/>
          </a:xfrm>
          <a:prstGeom prst="ellipse">
            <a:avLst/>
          </a:prstGeom>
          <a:solidFill>
            <a:srgbClr val="FFA500"/>
          </a:solidFill>
          <a:ln cap="flat" cmpd="sng" w="508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19402" y="1616180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9"/>
          <p:cNvSpPr txBox="1"/>
          <p:nvPr/>
        </p:nvSpPr>
        <p:spPr>
          <a:xfrm>
            <a:off x="819302" y="2739977"/>
            <a:ext cx="198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Проучване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819302" y="3216380"/>
            <a:ext cx="198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Roboto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Анализ на проблема и избор на подходящи технологии (RPi, Python, AI)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81805" y="1616180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9"/>
          <p:cNvSpPr txBox="1"/>
          <p:nvPr/>
        </p:nvSpPr>
        <p:spPr>
          <a:xfrm>
            <a:off x="3581705" y="2739977"/>
            <a:ext cx="198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Хардуер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3581705" y="3216380"/>
            <a:ext cx="198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Roboto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Сглобяване на компонентите: камера, сензори и вибрационни мотори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9"/>
          <p:cNvPicPr preferRelativeResize="0"/>
          <p:nvPr/>
        </p:nvPicPr>
        <p:blipFill rotWithShape="1">
          <a:blip r:embed="rId10">
            <a:alphaModFix/>
          </a:blip>
          <a:srcRect b="-30" l="0" r="0" t="-20"/>
          <a:stretch/>
        </p:blipFill>
        <p:spPr>
          <a:xfrm>
            <a:off x="7095744" y="1616180"/>
            <a:ext cx="476402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9"/>
          <p:cNvSpPr txBox="1"/>
          <p:nvPr/>
        </p:nvSpPr>
        <p:spPr>
          <a:xfrm>
            <a:off x="6344107" y="2739977"/>
            <a:ext cx="198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Софтуер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6344107" y="3216380"/>
            <a:ext cx="1981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Roboto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Разработка на алгоритми за AI анализ, TTS и управление на сензорите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05695" y="1616180"/>
            <a:ext cx="381305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9"/>
          <p:cNvSpPr txBox="1"/>
          <p:nvPr/>
        </p:nvSpPr>
        <p:spPr>
          <a:xfrm>
            <a:off x="9105595" y="2739977"/>
            <a:ext cx="198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9105595" y="3216380"/>
            <a:ext cx="1981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Roboto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Свързване на всички модули, полеви тестове и финални оптимизации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3" name="Google Shape;2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81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4250" y="315413"/>
            <a:ext cx="2531558" cy="179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5" name="Google Shape;26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5500" y="0"/>
            <a:ext cx="3746500" cy="65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"/>
          <p:cNvSpPr/>
          <p:nvPr/>
        </p:nvSpPr>
        <p:spPr>
          <a:xfrm>
            <a:off x="5201100" y="677700"/>
            <a:ext cx="7104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T Mono"/>
              <a:buNone/>
            </a:pPr>
            <a:r>
              <a:rPr lang="en-US" sz="3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Нашето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преживяване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circle with black lines&#10;&#10;Description automatically generated" id="267" name="Google Shape;26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747" y="3765551"/>
            <a:ext cx="6857998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0"/>
          <p:cNvSpPr/>
          <p:nvPr/>
        </p:nvSpPr>
        <p:spPr>
          <a:xfrm>
            <a:off x="824250" y="2210100"/>
            <a:ext cx="3685200" cy="2704800"/>
          </a:xfrm>
          <a:prstGeom prst="roundRect">
            <a:avLst>
              <a:gd fmla="val 3809" name="adj"/>
            </a:avLst>
          </a:prstGeom>
          <a:solidFill>
            <a:srgbClr val="111111"/>
          </a:solidFill>
          <a:ln cap="flat" cmpd="sng" w="25400">
            <a:solidFill>
              <a:srgbClr val="00F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5143500" y="1524305"/>
            <a:ext cx="6344100" cy="2095800"/>
          </a:xfrm>
          <a:prstGeom prst="roundRect">
            <a:avLst>
              <a:gd fmla="val 6346" name="adj"/>
            </a:avLst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5143500" y="1524305"/>
            <a:ext cx="57600" cy="2095800"/>
          </a:xfrm>
          <a:prstGeom prst="roundRect">
            <a:avLst>
              <a:gd fmla="val 230881" name="adj"/>
            </a:avLst>
          </a:prstGeom>
          <a:solidFill>
            <a:srgbClr val="00FF88"/>
          </a:solidFill>
          <a:ln cap="flat" cmpd="sng" w="12700">
            <a:solidFill>
              <a:srgbClr val="00FF8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5143500" y="4000500"/>
            <a:ext cx="6344100" cy="2095800"/>
          </a:xfrm>
          <a:prstGeom prst="roundRect">
            <a:avLst>
              <a:gd fmla="val 6346" name="adj"/>
            </a:avLst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5143500" y="4000500"/>
            <a:ext cx="57600" cy="2095800"/>
          </a:xfrm>
          <a:prstGeom prst="roundRect">
            <a:avLst>
              <a:gd fmla="val 230881" name="adj"/>
            </a:avLst>
          </a:prstGeom>
          <a:solidFill>
            <a:srgbClr val="FFA500"/>
          </a:solidFill>
          <a:ln cap="flat" cmpd="sng" w="12700">
            <a:solidFill>
              <a:srgbClr val="FFA5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0"/>
          <p:cNvPicPr preferRelativeResize="0"/>
          <p:nvPr/>
        </p:nvPicPr>
        <p:blipFill rotWithShape="1">
          <a:blip r:embed="rId7">
            <a:alphaModFix/>
          </a:blip>
          <a:srcRect b="-30" l="0" r="0" t="-20"/>
          <a:stretch/>
        </p:blipFill>
        <p:spPr>
          <a:xfrm>
            <a:off x="2428646" y="2400300"/>
            <a:ext cx="476402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0"/>
          <p:cNvSpPr txBox="1"/>
          <p:nvPr/>
        </p:nvSpPr>
        <p:spPr>
          <a:xfrm>
            <a:off x="895198" y="2952598"/>
            <a:ext cx="35433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00FF88"/>
                </a:solidFill>
                <a:latin typeface="Montserrat"/>
                <a:ea typeface="Montserrat"/>
                <a:cs typeface="Montserrat"/>
                <a:sym typeface="Montserrat"/>
              </a:rPr>
              <a:t>Снимка на отбора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895198" y="5069980"/>
            <a:ext cx="3543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MLADI BOGATI TUESARI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10"/>
          <p:cNvPicPr preferRelativeResize="0"/>
          <p:nvPr/>
        </p:nvPicPr>
        <p:blipFill rotWithShape="1">
          <a:blip r:embed="rId8">
            <a:alphaModFix/>
          </a:blip>
          <a:srcRect b="33867" l="10102" r="18249" t="26693"/>
          <a:stretch/>
        </p:blipFill>
        <p:spPr>
          <a:xfrm>
            <a:off x="824250" y="2210100"/>
            <a:ext cx="3685200" cy="2704800"/>
          </a:xfrm>
          <a:prstGeom prst="roundRect">
            <a:avLst>
              <a:gd fmla="val 5279" name="adj"/>
            </a:avLst>
          </a:prstGeom>
          <a:noFill/>
          <a:ln>
            <a:noFill/>
          </a:ln>
        </p:spPr>
      </p:pic>
      <p:pic>
        <p:nvPicPr>
          <p:cNvPr descr="preencoded.png" id="277" name="Google Shape;277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29707" y="1826057"/>
            <a:ext cx="286207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 txBox="1"/>
          <p:nvPr/>
        </p:nvSpPr>
        <p:spPr>
          <a:xfrm>
            <a:off x="6001207" y="1809598"/>
            <a:ext cx="5162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 нашето преживяване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6001207" y="2210105"/>
            <a:ext cx="51252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300"/>
              <a:buFont typeface="Roboto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0" name="Google Shape;280;p10"/>
          <p:cNvPicPr preferRelativeResize="0"/>
          <p:nvPr/>
        </p:nvPicPr>
        <p:blipFill rotWithShape="1">
          <a:blip r:embed="rId10">
            <a:alphaModFix/>
          </a:blip>
          <a:srcRect b="0" l="-1114" r="-1125" t="0"/>
          <a:stretch/>
        </p:blipFill>
        <p:spPr>
          <a:xfrm>
            <a:off x="5429707" y="4303166"/>
            <a:ext cx="219456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0"/>
          <p:cNvSpPr txBox="1"/>
          <p:nvPr/>
        </p:nvSpPr>
        <p:spPr>
          <a:xfrm>
            <a:off x="6001207" y="4286707"/>
            <a:ext cx="51627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Какво научихме?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6001207" y="4686300"/>
            <a:ext cx="516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• Работа с Google Gemini API и компютърно зрение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6001207" y="5036515"/>
            <a:ext cx="516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• Интеграция на хардуер и софтуер в реално време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6001207" y="5387645"/>
            <a:ext cx="516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• Екипна работа под напрежение и кратки срокове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ircular object with a black background&#10;&#10;Description automatically generated" id="290" name="Google Shape;2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95300" y="571092"/>
            <a:ext cx="14382600" cy="143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1"/>
          <p:cNvSpPr/>
          <p:nvPr/>
        </p:nvSpPr>
        <p:spPr>
          <a:xfrm>
            <a:off x="1161901" y="1323075"/>
            <a:ext cx="104841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0"/>
              <a:buFont typeface="PT Mono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</a:t>
            </a:r>
            <a:r>
              <a:rPr b="1" i="0" lang="en-US" sz="5400" u="none" cap="none" strike="noStrike">
                <a:solidFill>
                  <a:srgbClr val="00FF88"/>
                </a:solidFill>
                <a:latin typeface="PT Mono"/>
                <a:ea typeface="PT Mono"/>
                <a:cs typeface="PT Mono"/>
                <a:sym typeface="PT Mono"/>
              </a:rPr>
              <a:t>вниманието</a:t>
            </a:r>
            <a:r>
              <a:rPr b="1" i="0" lang="en-US" sz="5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!</a:t>
            </a:r>
            <a:endParaRPr b="1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1881" y="6020704"/>
            <a:ext cx="2508237" cy="26620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1"/>
          <p:cNvSpPr/>
          <p:nvPr/>
        </p:nvSpPr>
        <p:spPr>
          <a:xfrm>
            <a:off x="3715207" y="1047902"/>
            <a:ext cx="4781400" cy="4781400"/>
          </a:xfrm>
          <a:prstGeom prst="ellipse">
            <a:avLst/>
          </a:prstGeom>
          <a:noFill/>
          <a:ln cap="flat" cmpd="sng" w="12700">
            <a:solidFill>
              <a:srgbClr val="FFFFFF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4667098" y="4572000"/>
            <a:ext cx="2876700" cy="590700"/>
          </a:xfrm>
          <a:prstGeom prst="roundRect">
            <a:avLst>
              <a:gd fmla="val 149805" name="adj"/>
            </a:avLst>
          </a:prstGeom>
          <a:solidFill>
            <a:srgbClr val="10B981">
              <a:alpha val="1020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 txBox="1"/>
          <p:nvPr/>
        </p:nvSpPr>
        <p:spPr>
          <a:xfrm>
            <a:off x="2229307" y="3619195"/>
            <a:ext cx="773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800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FFB800"/>
                </a:solidFill>
                <a:latin typeface="Montserrat"/>
                <a:ea typeface="Montserrat"/>
                <a:cs typeface="Montserrat"/>
                <a:sym typeface="Montserrat"/>
              </a:rPr>
              <a:t>Отбор MLADI BOGATI TUESARI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11"/>
          <p:cNvPicPr preferRelativeResize="0"/>
          <p:nvPr/>
        </p:nvPicPr>
        <p:blipFill rotWithShape="1">
          <a:blip r:embed="rId6">
            <a:alphaModFix/>
          </a:blip>
          <a:srcRect b="0" l="-80" r="-80" t="0"/>
          <a:stretch/>
        </p:blipFill>
        <p:spPr>
          <a:xfrm>
            <a:off x="5381244" y="4724705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1"/>
          <p:cNvSpPr txBox="1"/>
          <p:nvPr/>
        </p:nvSpPr>
        <p:spPr>
          <a:xfrm>
            <a:off x="5762549" y="4724705"/>
            <a:ext cx="198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Въпроси?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12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7" name="Google Shape;307;p12"/>
          <p:cNvPicPr preferRelativeResize="0"/>
          <p:nvPr/>
        </p:nvPicPr>
        <p:blipFill rotWithShape="1">
          <a:blip r:embed="rId4">
            <a:alphaModFix/>
          </a:blip>
          <a:srcRect b="0" l="-38887" r="-38887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8" name="Google Shape;30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19695" y="-1429207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9" name="Google Shape;30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429207" y="4286707"/>
            <a:ext cx="4762195" cy="476219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2"/>
          <p:cNvSpPr/>
          <p:nvPr/>
        </p:nvSpPr>
        <p:spPr>
          <a:xfrm>
            <a:off x="761695" y="2572207"/>
            <a:ext cx="4619549" cy="972007"/>
          </a:xfrm>
          <a:prstGeom prst="roundRect">
            <a:avLst>
              <a:gd fmla="val 22135" name="adj"/>
            </a:avLst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761695" y="2572207"/>
            <a:ext cx="38405" cy="972007"/>
          </a:xfrm>
          <a:prstGeom prst="roundRect">
            <a:avLst>
              <a:gd fmla="val 560221" name="adj"/>
            </a:avLst>
          </a:prstGeom>
          <a:solidFill>
            <a:srgbClr val="00FF88"/>
          </a:solidFill>
          <a:ln cap="flat" cmpd="sng" w="12700">
            <a:solidFill>
              <a:srgbClr val="00FF8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761695" y="3715207"/>
            <a:ext cx="4619549" cy="972007"/>
          </a:xfrm>
          <a:prstGeom prst="roundRect">
            <a:avLst>
              <a:gd fmla="val 22135" name="adj"/>
            </a:avLst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761695" y="3715207"/>
            <a:ext cx="38405" cy="972007"/>
          </a:xfrm>
          <a:prstGeom prst="roundRect">
            <a:avLst>
              <a:gd fmla="val 560221" name="adj"/>
            </a:avLst>
          </a:prstGeom>
          <a:solidFill>
            <a:srgbClr val="FFA500"/>
          </a:solidFill>
          <a:ln cap="flat" cmpd="sng" w="12700">
            <a:solidFill>
              <a:srgbClr val="FFA5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761695" y="4858207"/>
            <a:ext cx="4619549" cy="972007"/>
          </a:xfrm>
          <a:prstGeom prst="roundRect">
            <a:avLst>
              <a:gd fmla="val 22135" name="adj"/>
            </a:avLst>
          </a:prstGeom>
          <a:solidFill>
            <a:srgbClr val="11111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761695" y="4858207"/>
            <a:ext cx="38405" cy="972007"/>
          </a:xfrm>
          <a:prstGeom prst="roundRect">
            <a:avLst>
              <a:gd fmla="val 560221" name="adj"/>
            </a:avLst>
          </a:prstGeom>
          <a:solidFill>
            <a:srgbClr val="00FF88"/>
          </a:solidFill>
          <a:ln cap="flat" cmpd="sng" w="12700">
            <a:solidFill>
              <a:srgbClr val="00FF8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12"/>
          <p:cNvPicPr preferRelativeResize="0"/>
          <p:nvPr/>
        </p:nvPicPr>
        <p:blipFill rotWithShape="1">
          <a:blip r:embed="rId7">
            <a:alphaModFix/>
          </a:blip>
          <a:srcRect b="-2" l="0" r="0" t="-2"/>
          <a:stretch/>
        </p:blipFill>
        <p:spPr>
          <a:xfrm>
            <a:off x="6096305" y="1714500"/>
            <a:ext cx="5372100" cy="4591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7" name="Google Shape;317;p12"/>
          <p:cNvPicPr preferRelativeResize="0"/>
          <p:nvPr/>
        </p:nvPicPr>
        <p:blipFill rotWithShape="1">
          <a:blip r:embed="rId8">
            <a:alphaModFix/>
          </a:blip>
          <a:srcRect b="0" l="-8" r="-8" t="0"/>
          <a:stretch/>
        </p:blipFill>
        <p:spPr>
          <a:xfrm>
            <a:off x="6096305" y="1714500"/>
            <a:ext cx="5352898" cy="39044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2"/>
          <p:cNvSpPr/>
          <p:nvPr/>
        </p:nvSpPr>
        <p:spPr>
          <a:xfrm>
            <a:off x="6286500" y="1848002"/>
            <a:ext cx="114300" cy="114300"/>
          </a:xfrm>
          <a:prstGeom prst="ellipse">
            <a:avLst/>
          </a:prstGeom>
          <a:solidFill>
            <a:srgbClr val="FF450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6476695" y="1848002"/>
            <a:ext cx="114300" cy="114300"/>
          </a:xfrm>
          <a:prstGeom prst="ellipse">
            <a:avLst/>
          </a:prstGeom>
          <a:solidFill>
            <a:srgbClr val="FFA50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6667805" y="1848002"/>
            <a:ext cx="114300" cy="114300"/>
          </a:xfrm>
          <a:prstGeom prst="ellipse">
            <a:avLst/>
          </a:prstGeom>
          <a:solidFill>
            <a:srgbClr val="00FF8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 txBox="1"/>
          <p:nvPr/>
        </p:nvSpPr>
        <p:spPr>
          <a:xfrm>
            <a:off x="6229807" y="1809598"/>
            <a:ext cx="50676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root@mybat-device:~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761695" y="571500"/>
            <a:ext cx="8763610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b="1"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ДЕМО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 txBox="1"/>
          <p:nvPr/>
        </p:nvSpPr>
        <p:spPr>
          <a:xfrm>
            <a:off x="761695" y="1143000"/>
            <a:ext cx="58293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Тестване на системата MyBaT в реални условия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10477195" y="666598"/>
            <a:ext cx="990295" cy="418795"/>
          </a:xfrm>
          <a:prstGeom prst="roundRect">
            <a:avLst>
              <a:gd fmla="val 198492" name="adj"/>
            </a:avLst>
          </a:prstGeom>
          <a:solidFill>
            <a:srgbClr val="FF4500">
              <a:alpha val="20000"/>
            </a:srgbClr>
          </a:solidFill>
          <a:ln cap="flat" cmpd="sng" w="25400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761695" y="2228393"/>
            <a:ext cx="2009851" cy="19202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 txBox="1"/>
          <p:nvPr/>
        </p:nvSpPr>
        <p:spPr>
          <a:xfrm>
            <a:off x="761695" y="1904695"/>
            <a:ext cx="2086661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Какво ще видите?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7" name="Google Shape;327;p12"/>
          <p:cNvPicPr preferRelativeResize="0"/>
          <p:nvPr/>
        </p:nvPicPr>
        <p:blipFill rotWithShape="1">
          <a:blip r:embed="rId9">
            <a:alphaModFix/>
          </a:blip>
          <a:srcRect b="-13" l="0" r="0" t="-13"/>
          <a:stretch/>
        </p:blipFill>
        <p:spPr>
          <a:xfrm>
            <a:off x="1071677" y="2829154"/>
            <a:ext cx="428854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2"/>
          <p:cNvSpPr txBox="1"/>
          <p:nvPr/>
        </p:nvSpPr>
        <p:spPr>
          <a:xfrm>
            <a:off x="1714500" y="2714854"/>
            <a:ext cx="344820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Анализ на средата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 txBox="1"/>
          <p:nvPr/>
        </p:nvSpPr>
        <p:spPr>
          <a:xfrm>
            <a:off x="1714500" y="2962656"/>
            <a:ext cx="34107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AI описва стаята, обектите и ситуацията пред потребителя.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12"/>
          <p:cNvPicPr preferRelativeResize="0"/>
          <p:nvPr/>
        </p:nvPicPr>
        <p:blipFill rotWithShape="1">
          <a:blip r:embed="rId10">
            <a:alphaModFix/>
          </a:blip>
          <a:srcRect b="0" l="-17" r="-17" t="0"/>
          <a:stretch/>
        </p:blipFill>
        <p:spPr>
          <a:xfrm>
            <a:off x="1119226" y="3972154"/>
            <a:ext cx="333756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2"/>
          <p:cNvSpPr txBox="1"/>
          <p:nvPr/>
        </p:nvSpPr>
        <p:spPr>
          <a:xfrm>
            <a:off x="1714500" y="3857854"/>
            <a:ext cx="344820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Четене на текст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 txBox="1"/>
          <p:nvPr/>
        </p:nvSpPr>
        <p:spPr>
          <a:xfrm>
            <a:off x="1714500" y="4105656"/>
            <a:ext cx="34107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Разпознаване на надписи, табели или документи в реално време.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 txBox="1"/>
          <p:nvPr/>
        </p:nvSpPr>
        <p:spPr>
          <a:xfrm>
            <a:off x="1714500" y="5000854"/>
            <a:ext cx="344820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Безопасност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 txBox="1"/>
          <p:nvPr/>
        </p:nvSpPr>
        <p:spPr>
          <a:xfrm>
            <a:off x="1714500" y="5248656"/>
            <a:ext cx="34107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Предупреждение за препятствия чрез вибрация и звук.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 txBox="1"/>
          <p:nvPr/>
        </p:nvSpPr>
        <p:spPr>
          <a:xfrm>
            <a:off x="6381598" y="2286000"/>
            <a:ext cx="48774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00FF88"/>
                </a:solidFill>
                <a:latin typeface="Courier New"/>
                <a:ea typeface="Courier New"/>
                <a:cs typeface="Courier New"/>
                <a:sym typeface="Courier New"/>
              </a:rPr>
              <a:t>&gt; Booting MyBaT System v1.0.4...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 txBox="1"/>
          <p:nvPr/>
        </p:nvSpPr>
        <p:spPr>
          <a:xfrm>
            <a:off x="6381598" y="2625242"/>
            <a:ext cx="4839005" cy="1067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Raspberry Pi Core initialized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Loading Kernel Modules...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Camera Interface (CSI) connected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Ultrasonic Sensors calibrated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.. ] Establishing Network Connection...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6381598" y="3786530"/>
            <a:ext cx="48774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50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A500"/>
                </a:solidFill>
                <a:latin typeface="Courier New"/>
                <a:ea typeface="Courier New"/>
                <a:cs typeface="Courier New"/>
                <a:sym typeface="Courier New"/>
              </a:rPr>
              <a:t>&gt; Connecting to Google Gemini API...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 txBox="1"/>
          <p:nvPr/>
        </p:nvSpPr>
        <p:spPr>
          <a:xfrm>
            <a:off x="6381598" y="3999586"/>
            <a:ext cx="4839005" cy="648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API Key Verified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Model: gemini-pro-vision loaded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[ OK ] TTS Engine: Bulgarian (bg-BG) ready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 txBox="1"/>
          <p:nvPr/>
        </p:nvSpPr>
        <p:spPr>
          <a:xfrm>
            <a:off x="6381598" y="4734763"/>
            <a:ext cx="48774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&gt; System Diagnostic: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 txBox="1"/>
          <p:nvPr/>
        </p:nvSpPr>
        <p:spPr>
          <a:xfrm>
            <a:off x="6572707" y="4947818"/>
            <a:ext cx="46863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CPU: 12% | RAM: 450MB/4GB | TEMP: 42°C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 txBox="1"/>
          <p:nvPr/>
        </p:nvSpPr>
        <p:spPr>
          <a:xfrm>
            <a:off x="6381598" y="5351983"/>
            <a:ext cx="487741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00FF88"/>
                </a:solidFill>
                <a:latin typeface="Courier New"/>
                <a:ea typeface="Courier New"/>
                <a:cs typeface="Courier New"/>
                <a:sym typeface="Courier New"/>
              </a:rPr>
              <a:t> &gt; READY FOR DEMO_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 txBox="1"/>
          <p:nvPr/>
        </p:nvSpPr>
        <p:spPr>
          <a:xfrm>
            <a:off x="-57607" y="6476695"/>
            <a:ext cx="1230691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MyBaT Project | Hackathon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10620756" y="780898"/>
            <a:ext cx="152705" cy="152705"/>
          </a:xfrm>
          <a:prstGeom prst="ellipse">
            <a:avLst/>
          </a:prstGeom>
          <a:solidFill>
            <a:srgbClr val="FF4500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"/>
          <p:cNvSpPr txBox="1"/>
          <p:nvPr/>
        </p:nvSpPr>
        <p:spPr>
          <a:xfrm>
            <a:off x="10810951" y="724205"/>
            <a:ext cx="6483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4500"/>
                </a:solidFill>
                <a:latin typeface="Montserrat"/>
                <a:ea typeface="Montserrat"/>
                <a:cs typeface="Montserrat"/>
                <a:sym typeface="Montserrat"/>
              </a:rPr>
              <a:t>LIVE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